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7" r:id="rId4"/>
    <p:sldId id="273" r:id="rId5"/>
    <p:sldId id="272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50A"/>
    <a:srgbClr val="F0801B"/>
    <a:srgbClr val="537214"/>
    <a:srgbClr val="F7F0E8"/>
    <a:srgbClr val="EFA74F"/>
    <a:srgbClr val="344B21"/>
    <a:srgbClr val="799508"/>
    <a:srgbClr val="EFA850"/>
    <a:srgbClr val="D9D9D9"/>
    <a:srgbClr val="B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9122" autoAdjust="0"/>
  </p:normalViewPr>
  <p:slideViewPr>
    <p:cSldViewPr snapToGrid="0" snapToObjects="1">
      <p:cViewPr>
        <p:scale>
          <a:sx n="100" d="100"/>
          <a:sy n="100" d="100"/>
        </p:scale>
        <p:origin x="874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528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62E25-AC27-6B47-5DE3-8D9D67129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36BD7-2DD3-4227-FE32-DCCBFFEE1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34584-0C8B-7CEE-FA5A-CEE914252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8D465-7C62-E2AF-72B0-60536C406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33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F7F98-3DE1-45F1-44C7-85755AAC0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391E2-826F-BC9F-EF80-7A71343AC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26727-2D77-2308-4AAE-1C797C8F1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8A825-78F7-3802-75B5-E36F9FB7C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82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CAPSTONE%20PROJECT/LWG%20Excel%20Capstone%20Project_St_Mary's%20Healthcare%20Group.xls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721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0960" y="809641"/>
            <a:ext cx="8202080" cy="820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43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St. Mary’s Healthcare Group</a:t>
            </a:r>
            <a:endParaRPr lang="en-US" sz="4400" dirty="0">
              <a:solidFill>
                <a:srgbClr val="24350A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836272" y="1434414"/>
            <a:ext cx="3471456" cy="472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700" i="1" dirty="0">
                <a:solidFill>
                  <a:srgbClr val="537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Performance Analysis</a:t>
            </a:r>
            <a:endParaRPr lang="en-US" sz="1700" i="1" dirty="0">
              <a:solidFill>
                <a:srgbClr val="537214"/>
              </a:solidFill>
            </a:endParaRPr>
          </a:p>
        </p:txBody>
      </p:sp>
      <p:sp>
        <p:nvSpPr>
          <p:cNvPr id="6" name="Shape 4">
            <a:hlinkClick r:id="rId3" action="ppaction://hlinkfile"/>
          </p:cNvPr>
          <p:cNvSpPr/>
          <p:nvPr/>
        </p:nvSpPr>
        <p:spPr>
          <a:xfrm>
            <a:off x="3200400" y="1966309"/>
            <a:ext cx="2743200" cy="45720"/>
          </a:xfrm>
          <a:prstGeom prst="rect">
            <a:avLst/>
          </a:prstGeom>
          <a:solidFill>
            <a:srgbClr val="EF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1" y="4513217"/>
            <a:ext cx="9144001" cy="630283"/>
          </a:xfrm>
          <a:prstGeom prst="rect">
            <a:avLst/>
          </a:prstGeom>
          <a:solidFill>
            <a:srgbClr val="344B21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456D894-0A15-48F8-44BF-DB4E48A7056B}"/>
              </a:ext>
            </a:extLst>
          </p:cNvPr>
          <p:cNvSpPr/>
          <p:nvPr/>
        </p:nvSpPr>
        <p:spPr>
          <a:xfrm>
            <a:off x="2301240" y="3373512"/>
            <a:ext cx="4541520" cy="62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243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Chukwuemeka Onyekaodiri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A63EB70-70A8-024B-6A87-5EB9A7A0C8D0}"/>
              </a:ext>
            </a:extLst>
          </p:cNvPr>
          <p:cNvGrpSpPr/>
          <p:nvPr/>
        </p:nvGrpSpPr>
        <p:grpSpPr>
          <a:xfrm>
            <a:off x="5148987" y="4625868"/>
            <a:ext cx="3799070" cy="441542"/>
            <a:chOff x="5148987" y="4625868"/>
            <a:chExt cx="3799070" cy="441542"/>
          </a:xfrm>
        </p:grpSpPr>
        <p:sp>
          <p:nvSpPr>
            <p:cNvPr id="9" name="Text 7"/>
            <p:cNvSpPr/>
            <p:nvPr/>
          </p:nvSpPr>
          <p:spPr>
            <a:xfrm>
              <a:off x="6570800" y="4625868"/>
              <a:ext cx="2377257" cy="4228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just"/>
              <a:r>
                <a:rPr lang="en-US" sz="20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Jan 2024 – Dec 2025</a:t>
              </a:r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4A7A1C46-8A07-AD3F-846E-ED5155D4AE78}"/>
                </a:ext>
              </a:extLst>
            </p:cNvPr>
            <p:cNvSpPr/>
            <p:nvPr/>
          </p:nvSpPr>
          <p:spPr>
            <a:xfrm>
              <a:off x="5148987" y="4651950"/>
              <a:ext cx="1548529" cy="415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spcAft>
                  <a:spcPts val="600"/>
                </a:spcAft>
                <a:buNone/>
              </a:pPr>
              <a:r>
                <a:rPr lang="en-US" i="1" dirty="0">
                  <a:solidFill>
                    <a:srgbClr val="F0801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Report Period:</a:t>
              </a:r>
            </a:p>
          </p:txBody>
        </p:sp>
      </p:grpSp>
      <p:sp>
        <p:nvSpPr>
          <p:cNvPr id="12" name="Text 5">
            <a:extLst>
              <a:ext uri="{FF2B5EF4-FFF2-40B4-BE49-F238E27FC236}">
                <a16:creationId xmlns:a16="http://schemas.microsoft.com/office/drawing/2014/main" id="{3BEF61A0-6FEB-AB2A-93FC-09DC63985F9C}"/>
              </a:ext>
            </a:extLst>
          </p:cNvPr>
          <p:cNvSpPr/>
          <p:nvPr/>
        </p:nvSpPr>
        <p:spPr>
          <a:xfrm>
            <a:off x="4063070" y="3094288"/>
            <a:ext cx="1017861" cy="352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08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endParaRPr lang="en-US" sz="1400" dirty="0">
              <a:solidFill>
                <a:srgbClr val="F0801B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AE30D5-8151-1825-C144-8AB04536FB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929" t="21634" r="33363" b="24017"/>
          <a:stretch>
            <a:fillRect/>
          </a:stretch>
        </p:blipFill>
        <p:spPr>
          <a:xfrm>
            <a:off x="4178981" y="95111"/>
            <a:ext cx="786039" cy="820548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29B3DD29-A333-C4D4-C41D-A64DC503821D}"/>
              </a:ext>
            </a:extLst>
          </p:cNvPr>
          <p:cNvSpPr/>
          <p:nvPr/>
        </p:nvSpPr>
        <p:spPr>
          <a:xfrm>
            <a:off x="3707958" y="3938745"/>
            <a:ext cx="1728084" cy="352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537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Data Analyst</a:t>
            </a:r>
            <a:endParaRPr lang="en-US" sz="1600" dirty="0">
              <a:solidFill>
                <a:srgbClr val="537214"/>
              </a:solidFill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6EBF404-B905-A567-F671-C7F9DDEBEAF2}"/>
              </a:ext>
            </a:extLst>
          </p:cNvPr>
          <p:cNvSpPr/>
          <p:nvPr/>
        </p:nvSpPr>
        <p:spPr>
          <a:xfrm>
            <a:off x="1200150" y="2234458"/>
            <a:ext cx="6743700" cy="664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500" i="1" dirty="0">
                <a:solidFill>
                  <a:srgbClr val="537214"/>
                </a:solidFill>
                <a:latin typeface="Calibri (Body)"/>
              </a:rPr>
              <a:t>St. Mary's Healthcare Group required an analysis of patient admissions, treatment costs, operational efficiency, and patient satisfaction to evaluate performance and identify opportunities for improvement.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30200" y="15512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43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Insights &amp; Further Analysis</a:t>
            </a:r>
            <a:endParaRPr lang="en-US" sz="3000" dirty="0">
              <a:solidFill>
                <a:srgbClr val="24350A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2DE8AAE-D298-B2DC-D243-EC2F18BCA38B}"/>
              </a:ext>
            </a:extLst>
          </p:cNvPr>
          <p:cNvGrpSpPr/>
          <p:nvPr/>
        </p:nvGrpSpPr>
        <p:grpSpPr>
          <a:xfrm>
            <a:off x="700774" y="848777"/>
            <a:ext cx="1476174" cy="769441"/>
            <a:chOff x="320190" y="1001627"/>
            <a:chExt cx="1476174" cy="76944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28B97FF-7A4A-FBAF-7F02-AC8FEB886821}"/>
                </a:ext>
              </a:extLst>
            </p:cNvPr>
            <p:cNvSpPr/>
            <p:nvPr/>
          </p:nvSpPr>
          <p:spPr>
            <a:xfrm>
              <a:off x="320190" y="1057691"/>
              <a:ext cx="1466164" cy="67799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0801B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E1DC393-260C-B679-39DA-24739CB608ED}"/>
                </a:ext>
              </a:extLst>
            </p:cNvPr>
            <p:cNvSpPr txBox="1"/>
            <p:nvPr/>
          </p:nvSpPr>
          <p:spPr>
            <a:xfrm>
              <a:off x="330200" y="1001627"/>
              <a:ext cx="146616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537214"/>
                  </a:solidFill>
                </a:rPr>
                <a:t>£13,897</a:t>
              </a:r>
            </a:p>
            <a:p>
              <a:pPr algn="ctr"/>
              <a:endParaRPr lang="en-US" sz="100" dirty="0">
                <a:solidFill>
                  <a:srgbClr val="53721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400" dirty="0">
                  <a:solidFill>
                    <a:srgbClr val="53721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Sheffield</a:t>
              </a:r>
            </a:p>
          </p:txBody>
        </p:sp>
      </p:grpSp>
      <p:sp>
        <p:nvSpPr>
          <p:cNvPr id="40" name="Shape 0">
            <a:extLst>
              <a:ext uri="{FF2B5EF4-FFF2-40B4-BE49-F238E27FC236}">
                <a16:creationId xmlns:a16="http://schemas.microsoft.com/office/drawing/2014/main" id="{44FA90CB-195A-365D-EE33-E21B986792DE}"/>
              </a:ext>
            </a:extLst>
          </p:cNvPr>
          <p:cNvSpPr/>
          <p:nvPr/>
        </p:nvSpPr>
        <p:spPr>
          <a:xfrm>
            <a:off x="0" y="4988043"/>
            <a:ext cx="9144000" cy="155457"/>
          </a:xfrm>
          <a:prstGeom prst="rect">
            <a:avLst/>
          </a:prstGeom>
          <a:solidFill>
            <a:srgbClr val="5372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80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104A86B-1241-2EC0-389C-32A7FB4A7753}"/>
              </a:ext>
            </a:extLst>
          </p:cNvPr>
          <p:cNvGrpSpPr/>
          <p:nvPr/>
        </p:nvGrpSpPr>
        <p:grpSpPr>
          <a:xfrm>
            <a:off x="2594405" y="918171"/>
            <a:ext cx="5878287" cy="722952"/>
            <a:chOff x="2573383" y="970461"/>
            <a:chExt cx="5878287" cy="722952"/>
          </a:xfrm>
        </p:grpSpPr>
        <p:sp>
          <p:nvSpPr>
            <p:cNvPr id="41" name="Shape 5">
              <a:extLst>
                <a:ext uri="{FF2B5EF4-FFF2-40B4-BE49-F238E27FC236}">
                  <a16:creationId xmlns:a16="http://schemas.microsoft.com/office/drawing/2014/main" id="{BEA62D0F-28F7-7D3D-E3BE-D284DCBC82F6}"/>
                </a:ext>
              </a:extLst>
            </p:cNvPr>
            <p:cNvSpPr/>
            <p:nvPr/>
          </p:nvSpPr>
          <p:spPr>
            <a:xfrm>
              <a:off x="2573383" y="970461"/>
              <a:ext cx="5878287" cy="722952"/>
            </a:xfrm>
            <a:prstGeom prst="rect">
              <a:avLst/>
            </a:prstGeom>
            <a:solidFill>
              <a:schemeClr val="bg1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16">
              <a:extLst>
                <a:ext uri="{FF2B5EF4-FFF2-40B4-BE49-F238E27FC236}">
                  <a16:creationId xmlns:a16="http://schemas.microsoft.com/office/drawing/2014/main" id="{A325C44E-8579-B2F6-51DD-7CE024BC8AAA}"/>
                </a:ext>
              </a:extLst>
            </p:cNvPr>
            <p:cNvSpPr/>
            <p:nvPr/>
          </p:nvSpPr>
          <p:spPr>
            <a:xfrm>
              <a:off x="2704012" y="1029566"/>
              <a:ext cx="5747658" cy="5824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700" dirty="0">
                  <a:solidFill>
                    <a:srgbClr val="24350A"/>
                  </a:solidFill>
                </a:rPr>
                <a:t>Highest revenue per patient, demonstrating strong revenue efficiency despite not generating the highest overall revenue.</a:t>
              </a:r>
              <a:endParaRPr lang="en-US" sz="1700" dirty="0">
                <a:solidFill>
                  <a:srgbClr val="24350A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B2D7F6-B190-2333-71AE-66B2E95ACE46}"/>
              </a:ext>
            </a:extLst>
          </p:cNvPr>
          <p:cNvGrpSpPr/>
          <p:nvPr/>
        </p:nvGrpSpPr>
        <p:grpSpPr>
          <a:xfrm>
            <a:off x="2594405" y="1785863"/>
            <a:ext cx="5878287" cy="677994"/>
            <a:chOff x="2573383" y="1785863"/>
            <a:chExt cx="5878287" cy="677994"/>
          </a:xfrm>
        </p:grpSpPr>
        <p:sp>
          <p:nvSpPr>
            <p:cNvPr id="55" name="Shape 5">
              <a:extLst>
                <a:ext uri="{FF2B5EF4-FFF2-40B4-BE49-F238E27FC236}">
                  <a16:creationId xmlns:a16="http://schemas.microsoft.com/office/drawing/2014/main" id="{4206F484-E565-590B-05CA-16FA8E478BB9}"/>
                </a:ext>
              </a:extLst>
            </p:cNvPr>
            <p:cNvSpPr/>
            <p:nvPr/>
          </p:nvSpPr>
          <p:spPr>
            <a:xfrm>
              <a:off x="2573383" y="1785863"/>
              <a:ext cx="5878287" cy="677994"/>
            </a:xfrm>
            <a:prstGeom prst="rect">
              <a:avLst/>
            </a:prstGeom>
            <a:solidFill>
              <a:schemeClr val="bg1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16">
              <a:extLst>
                <a:ext uri="{FF2B5EF4-FFF2-40B4-BE49-F238E27FC236}">
                  <a16:creationId xmlns:a16="http://schemas.microsoft.com/office/drawing/2014/main" id="{D935D774-82D3-7C71-1716-A9BC193D6A22}"/>
                </a:ext>
              </a:extLst>
            </p:cNvPr>
            <p:cNvSpPr/>
            <p:nvPr/>
          </p:nvSpPr>
          <p:spPr>
            <a:xfrm>
              <a:off x="2704012" y="1839510"/>
              <a:ext cx="5747657" cy="5824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700" dirty="0">
                  <a:solidFill>
                    <a:srgbClr val="24350A"/>
                  </a:solidFill>
                </a:rPr>
                <a:t>Generated the highest revenue due to higher patient volume rather than higher revenue per patient.</a:t>
              </a:r>
              <a:endParaRPr lang="en-US" sz="1700" dirty="0">
                <a:solidFill>
                  <a:srgbClr val="24350A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1856B4F-FCA7-83AF-5955-024B41A99CB7}"/>
              </a:ext>
            </a:extLst>
          </p:cNvPr>
          <p:cNvGrpSpPr/>
          <p:nvPr/>
        </p:nvGrpSpPr>
        <p:grpSpPr>
          <a:xfrm>
            <a:off x="2594405" y="2588202"/>
            <a:ext cx="5878287" cy="677994"/>
            <a:chOff x="2573383" y="2588202"/>
            <a:chExt cx="5878287" cy="677994"/>
          </a:xfrm>
        </p:grpSpPr>
        <p:sp>
          <p:nvSpPr>
            <p:cNvPr id="56" name="Shape 5">
              <a:extLst>
                <a:ext uri="{FF2B5EF4-FFF2-40B4-BE49-F238E27FC236}">
                  <a16:creationId xmlns:a16="http://schemas.microsoft.com/office/drawing/2014/main" id="{E777EECF-2D75-3449-D3AE-C4679D2B9042}"/>
                </a:ext>
              </a:extLst>
            </p:cNvPr>
            <p:cNvSpPr/>
            <p:nvPr/>
          </p:nvSpPr>
          <p:spPr>
            <a:xfrm>
              <a:off x="2573383" y="2588202"/>
              <a:ext cx="5878287" cy="677994"/>
            </a:xfrm>
            <a:prstGeom prst="rect">
              <a:avLst/>
            </a:prstGeom>
            <a:solidFill>
              <a:schemeClr val="bg1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6">
              <a:extLst>
                <a:ext uri="{FF2B5EF4-FFF2-40B4-BE49-F238E27FC236}">
                  <a16:creationId xmlns:a16="http://schemas.microsoft.com/office/drawing/2014/main" id="{9BF81B7D-C400-9754-3F22-5015CDF73D40}"/>
                </a:ext>
              </a:extLst>
            </p:cNvPr>
            <p:cNvSpPr/>
            <p:nvPr/>
          </p:nvSpPr>
          <p:spPr>
            <a:xfrm>
              <a:off x="2704012" y="2636639"/>
              <a:ext cx="5747657" cy="5824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700" dirty="0">
                  <a:solidFill>
                    <a:srgbClr val="24350A"/>
                  </a:solidFill>
                </a:rPr>
                <a:t>Achieved the highest patient satisfaction score while maintaining one of the shortest average lengths of stay.</a:t>
              </a:r>
              <a:endParaRPr lang="en-US" sz="1700" dirty="0">
                <a:solidFill>
                  <a:srgbClr val="24350A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186E60C-F892-83AF-EA7B-705FAD8B130E}"/>
              </a:ext>
            </a:extLst>
          </p:cNvPr>
          <p:cNvGrpSpPr/>
          <p:nvPr/>
        </p:nvGrpSpPr>
        <p:grpSpPr>
          <a:xfrm>
            <a:off x="2594405" y="3405332"/>
            <a:ext cx="5878287" cy="698240"/>
            <a:chOff x="2615428" y="3405332"/>
            <a:chExt cx="5878287" cy="698240"/>
          </a:xfrm>
        </p:grpSpPr>
        <p:sp>
          <p:nvSpPr>
            <p:cNvPr id="57" name="Shape 5">
              <a:extLst>
                <a:ext uri="{FF2B5EF4-FFF2-40B4-BE49-F238E27FC236}">
                  <a16:creationId xmlns:a16="http://schemas.microsoft.com/office/drawing/2014/main" id="{97860EDC-CD91-BEA9-BF1D-F318DFCDACBB}"/>
                </a:ext>
              </a:extLst>
            </p:cNvPr>
            <p:cNvSpPr/>
            <p:nvPr/>
          </p:nvSpPr>
          <p:spPr>
            <a:xfrm>
              <a:off x="2615428" y="3428696"/>
              <a:ext cx="5878287" cy="674876"/>
            </a:xfrm>
            <a:prstGeom prst="rect">
              <a:avLst/>
            </a:prstGeom>
            <a:solidFill>
              <a:schemeClr val="bg1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16">
              <a:extLst>
                <a:ext uri="{FF2B5EF4-FFF2-40B4-BE49-F238E27FC236}">
                  <a16:creationId xmlns:a16="http://schemas.microsoft.com/office/drawing/2014/main" id="{5E92E1DD-0352-2D9D-158E-FCC4AD65BBF7}"/>
                </a:ext>
              </a:extLst>
            </p:cNvPr>
            <p:cNvSpPr/>
            <p:nvPr/>
          </p:nvSpPr>
          <p:spPr>
            <a:xfrm>
              <a:off x="2704012" y="3405332"/>
              <a:ext cx="5747657" cy="5824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700" dirty="0">
                  <a:solidFill>
                    <a:srgbClr val="24350A"/>
                  </a:solidFill>
                </a:rPr>
                <a:t>Recorded the same number of critical cases as Adults despite having a smaller patient population.</a:t>
              </a:r>
              <a:endParaRPr lang="en-US" sz="1700" dirty="0">
                <a:solidFill>
                  <a:srgbClr val="24350A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14F1BC5-DFFA-5504-980A-F215EC0ABEB8}"/>
              </a:ext>
            </a:extLst>
          </p:cNvPr>
          <p:cNvGrpSpPr/>
          <p:nvPr/>
        </p:nvGrpSpPr>
        <p:grpSpPr>
          <a:xfrm>
            <a:off x="2594405" y="4246727"/>
            <a:ext cx="5878286" cy="674876"/>
            <a:chOff x="2573384" y="4179817"/>
            <a:chExt cx="5878286" cy="674876"/>
          </a:xfrm>
        </p:grpSpPr>
        <p:sp>
          <p:nvSpPr>
            <p:cNvPr id="58" name="Shape 5">
              <a:extLst>
                <a:ext uri="{FF2B5EF4-FFF2-40B4-BE49-F238E27FC236}">
                  <a16:creationId xmlns:a16="http://schemas.microsoft.com/office/drawing/2014/main" id="{0CFE22A5-C015-EA26-EF3D-723065D82804}"/>
                </a:ext>
              </a:extLst>
            </p:cNvPr>
            <p:cNvSpPr/>
            <p:nvPr/>
          </p:nvSpPr>
          <p:spPr>
            <a:xfrm>
              <a:off x="2573384" y="4179817"/>
              <a:ext cx="5878285" cy="674876"/>
            </a:xfrm>
            <a:prstGeom prst="rect">
              <a:avLst/>
            </a:prstGeom>
            <a:solidFill>
              <a:schemeClr val="bg1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6">
              <a:extLst>
                <a:ext uri="{FF2B5EF4-FFF2-40B4-BE49-F238E27FC236}">
                  <a16:creationId xmlns:a16="http://schemas.microsoft.com/office/drawing/2014/main" id="{89D43BFC-3F39-8EC8-57AF-E5098E55FF16}"/>
                </a:ext>
              </a:extLst>
            </p:cNvPr>
            <p:cNvSpPr/>
            <p:nvPr/>
          </p:nvSpPr>
          <p:spPr>
            <a:xfrm>
              <a:off x="2704012" y="4189926"/>
              <a:ext cx="5747658" cy="5824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700" dirty="0">
                  <a:solidFill>
                    <a:srgbClr val="24350A"/>
                  </a:solidFill>
                </a:rPr>
                <a:t>Generated the highest number of admissions (65) and the highest total revenue among all diagnosis categories.</a:t>
              </a:r>
              <a:endParaRPr lang="en-US" sz="1700" dirty="0">
                <a:solidFill>
                  <a:srgbClr val="24350A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0678440-15B5-5409-FC32-AE64E3150D2D}"/>
              </a:ext>
            </a:extLst>
          </p:cNvPr>
          <p:cNvGrpSpPr/>
          <p:nvPr/>
        </p:nvGrpSpPr>
        <p:grpSpPr>
          <a:xfrm>
            <a:off x="705779" y="1672536"/>
            <a:ext cx="1466165" cy="754053"/>
            <a:chOff x="311153" y="1771068"/>
            <a:chExt cx="1466165" cy="75405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55342EA-525A-96C5-5882-DCD7D71EA573}"/>
                </a:ext>
              </a:extLst>
            </p:cNvPr>
            <p:cNvSpPr/>
            <p:nvPr/>
          </p:nvSpPr>
          <p:spPr>
            <a:xfrm>
              <a:off x="311154" y="1822621"/>
              <a:ext cx="1466164" cy="67799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0801B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3CBD5FF-5ECC-42D6-E54A-1753A5727954}"/>
                </a:ext>
              </a:extLst>
            </p:cNvPr>
            <p:cNvSpPr txBox="1"/>
            <p:nvPr/>
          </p:nvSpPr>
          <p:spPr>
            <a:xfrm>
              <a:off x="311153" y="1771068"/>
              <a:ext cx="1418557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801B"/>
                  </a:solidFill>
                </a:rPr>
                <a:t>£2.57M</a:t>
              </a:r>
            </a:p>
            <a:p>
              <a:pPr algn="ctr"/>
              <a:endParaRPr lang="en-US" sz="100" dirty="0">
                <a:solidFill>
                  <a:srgbClr val="53721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400" dirty="0">
                  <a:solidFill>
                    <a:srgbClr val="53721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Long Stay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2CD6C7D-267B-99CC-FFD0-0333D5974010}"/>
              </a:ext>
            </a:extLst>
          </p:cNvPr>
          <p:cNvGrpSpPr/>
          <p:nvPr/>
        </p:nvGrpSpPr>
        <p:grpSpPr>
          <a:xfrm>
            <a:off x="705779" y="2480907"/>
            <a:ext cx="1466164" cy="769441"/>
            <a:chOff x="311154" y="2541827"/>
            <a:chExt cx="1466164" cy="76944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29D64D2-F007-BE0E-8815-9E185B459674}"/>
                </a:ext>
              </a:extLst>
            </p:cNvPr>
            <p:cNvSpPr/>
            <p:nvPr/>
          </p:nvSpPr>
          <p:spPr>
            <a:xfrm>
              <a:off x="311154" y="2587551"/>
              <a:ext cx="1466164" cy="67799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0801B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6496D0F-F2F9-0FF5-879A-E36471312D5A}"/>
                </a:ext>
              </a:extLst>
            </p:cNvPr>
            <p:cNvSpPr txBox="1"/>
            <p:nvPr/>
          </p:nvSpPr>
          <p:spPr>
            <a:xfrm>
              <a:off x="570228" y="2541827"/>
              <a:ext cx="9660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537214"/>
                  </a:solidFill>
                </a:rPr>
                <a:t>6.04</a:t>
              </a:r>
            </a:p>
            <a:p>
              <a:pPr algn="ctr"/>
              <a:endParaRPr lang="en-US" sz="100" dirty="0">
                <a:solidFill>
                  <a:srgbClr val="53721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400" dirty="0">
                  <a:solidFill>
                    <a:srgbClr val="53721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Dr. Taylor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0EB7C04-D2F2-D654-BBF8-69D3BFE80317}"/>
              </a:ext>
            </a:extLst>
          </p:cNvPr>
          <p:cNvGrpSpPr/>
          <p:nvPr/>
        </p:nvGrpSpPr>
        <p:grpSpPr>
          <a:xfrm>
            <a:off x="705779" y="3304666"/>
            <a:ext cx="1466164" cy="754053"/>
            <a:chOff x="314166" y="3367302"/>
            <a:chExt cx="1466164" cy="75405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1F3E78D-E1C9-1D43-D810-29A57A72BC49}"/>
                </a:ext>
              </a:extLst>
            </p:cNvPr>
            <p:cNvSpPr/>
            <p:nvPr/>
          </p:nvSpPr>
          <p:spPr>
            <a:xfrm>
              <a:off x="314166" y="3405332"/>
              <a:ext cx="1466164" cy="67799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0801B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52D4F75-BDFA-EFC4-5FB7-AD5BB156AB8B}"/>
                </a:ext>
              </a:extLst>
            </p:cNvPr>
            <p:cNvSpPr txBox="1"/>
            <p:nvPr/>
          </p:nvSpPr>
          <p:spPr>
            <a:xfrm>
              <a:off x="561192" y="3367302"/>
              <a:ext cx="96608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801B"/>
                  </a:solidFill>
                </a:rPr>
                <a:t>41</a:t>
              </a:r>
            </a:p>
            <a:p>
              <a:pPr algn="ctr"/>
              <a:endParaRPr lang="en-US" sz="100" dirty="0">
                <a:solidFill>
                  <a:srgbClr val="53721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400" dirty="0">
                  <a:solidFill>
                    <a:srgbClr val="53721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Elders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AE4AB92-CA14-CAA0-9A03-C49EECA8C915}"/>
              </a:ext>
            </a:extLst>
          </p:cNvPr>
          <p:cNvGrpSpPr/>
          <p:nvPr/>
        </p:nvGrpSpPr>
        <p:grpSpPr>
          <a:xfrm>
            <a:off x="705779" y="4113037"/>
            <a:ext cx="1466164" cy="773955"/>
            <a:chOff x="317178" y="4127152"/>
            <a:chExt cx="1466164" cy="77395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AB311A0-7BB1-135D-7844-4B18B31A4A4C}"/>
                </a:ext>
              </a:extLst>
            </p:cNvPr>
            <p:cNvSpPr/>
            <p:nvPr/>
          </p:nvSpPr>
          <p:spPr>
            <a:xfrm>
              <a:off x="317178" y="4223113"/>
              <a:ext cx="1466164" cy="67799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0801B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3C56B95-4097-B237-8F36-593962C68274}"/>
                </a:ext>
              </a:extLst>
            </p:cNvPr>
            <p:cNvSpPr txBox="1"/>
            <p:nvPr/>
          </p:nvSpPr>
          <p:spPr>
            <a:xfrm>
              <a:off x="592043" y="4127152"/>
              <a:ext cx="95215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537214"/>
                  </a:solidFill>
                </a:rPr>
                <a:t>65</a:t>
              </a:r>
            </a:p>
            <a:p>
              <a:pPr algn="ctr"/>
              <a:endParaRPr lang="en-US" sz="100" dirty="0">
                <a:solidFill>
                  <a:srgbClr val="53721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400" dirty="0">
                  <a:solidFill>
                    <a:srgbClr val="53721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Asthma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514600" y="16925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3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000" dirty="0">
              <a:solidFill>
                <a:srgbClr val="24350A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80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D61A04E2-5227-C00A-39AF-524FD1C3D017}"/>
              </a:ext>
            </a:extLst>
          </p:cNvPr>
          <p:cNvSpPr/>
          <p:nvPr/>
        </p:nvSpPr>
        <p:spPr>
          <a:xfrm>
            <a:off x="300445" y="650191"/>
            <a:ext cx="755033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Core Performance Recommendations (Dashboard Findings)</a:t>
            </a:r>
            <a:endParaRPr lang="en-US" dirty="0">
              <a:solidFill>
                <a:srgbClr val="24350A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704BB49-10C3-F6EA-EF4F-66E0980D8A93}"/>
              </a:ext>
            </a:extLst>
          </p:cNvPr>
          <p:cNvGrpSpPr/>
          <p:nvPr/>
        </p:nvGrpSpPr>
        <p:grpSpPr>
          <a:xfrm>
            <a:off x="0" y="1350072"/>
            <a:ext cx="9144000" cy="3793428"/>
            <a:chOff x="0" y="1350072"/>
            <a:chExt cx="9144000" cy="3793428"/>
          </a:xfrm>
        </p:grpSpPr>
        <p:sp>
          <p:nvSpPr>
            <p:cNvPr id="34" name="Shape 28">
              <a:extLst>
                <a:ext uri="{FF2B5EF4-FFF2-40B4-BE49-F238E27FC236}">
                  <a16:creationId xmlns:a16="http://schemas.microsoft.com/office/drawing/2014/main" id="{1AA0DB6D-FD0D-845C-76AC-ED5F5F23A490}"/>
                </a:ext>
              </a:extLst>
            </p:cNvPr>
            <p:cNvSpPr/>
            <p:nvPr/>
          </p:nvSpPr>
          <p:spPr>
            <a:xfrm>
              <a:off x="0" y="4776861"/>
              <a:ext cx="9144000" cy="366639"/>
            </a:xfrm>
            <a:prstGeom prst="rect">
              <a:avLst/>
            </a:prstGeom>
            <a:solidFill>
              <a:srgbClr val="537214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Shape 17">
              <a:extLst>
                <a:ext uri="{FF2B5EF4-FFF2-40B4-BE49-F238E27FC236}">
                  <a16:creationId xmlns:a16="http://schemas.microsoft.com/office/drawing/2014/main" id="{1E570E41-8325-4605-E8A6-37C7991B8B4A}"/>
                </a:ext>
              </a:extLst>
            </p:cNvPr>
            <p:cNvSpPr/>
            <p:nvPr/>
          </p:nvSpPr>
          <p:spPr>
            <a:xfrm>
              <a:off x="287382" y="1350072"/>
              <a:ext cx="4146151" cy="152688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96C4C88-3D53-111F-60EF-F0EA8FB6683F}"/>
                </a:ext>
              </a:extLst>
            </p:cNvPr>
            <p:cNvGrpSpPr/>
            <p:nvPr/>
          </p:nvGrpSpPr>
          <p:grpSpPr>
            <a:xfrm>
              <a:off x="274321" y="1896941"/>
              <a:ext cx="515982" cy="982979"/>
              <a:chOff x="274321" y="1896941"/>
              <a:chExt cx="515982" cy="982979"/>
            </a:xfrm>
          </p:grpSpPr>
          <p:sp>
            <p:nvSpPr>
              <p:cNvPr id="7" name="Shape 18">
                <a:extLst>
                  <a:ext uri="{FF2B5EF4-FFF2-40B4-BE49-F238E27FC236}">
                    <a16:creationId xmlns:a16="http://schemas.microsoft.com/office/drawing/2014/main" id="{230DF5F6-B16D-5A73-467A-8600E3530246}"/>
                  </a:ext>
                </a:extLst>
              </p:cNvPr>
              <p:cNvSpPr/>
              <p:nvPr/>
            </p:nvSpPr>
            <p:spPr>
              <a:xfrm>
                <a:off x="287383" y="1896941"/>
                <a:ext cx="502920" cy="982979"/>
              </a:xfrm>
              <a:prstGeom prst="rect">
                <a:avLst/>
              </a:prstGeom>
              <a:solidFill>
                <a:srgbClr val="537214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 19">
                <a:extLst>
                  <a:ext uri="{FF2B5EF4-FFF2-40B4-BE49-F238E27FC236}">
                    <a16:creationId xmlns:a16="http://schemas.microsoft.com/office/drawing/2014/main" id="{269EA873-8803-C5B0-71A3-F01DBD758403}"/>
                  </a:ext>
                </a:extLst>
              </p:cNvPr>
              <p:cNvSpPr/>
              <p:nvPr/>
            </p:nvSpPr>
            <p:spPr>
              <a:xfrm>
                <a:off x="274321" y="2132510"/>
                <a:ext cx="50292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0801B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01</a:t>
                </a:r>
                <a:endParaRPr lang="en-US" sz="1400" dirty="0">
                  <a:solidFill>
                    <a:srgbClr val="F0801B"/>
                  </a:solidFill>
                </a:endParaRPr>
              </a:p>
            </p:txBody>
          </p:sp>
        </p:grpSp>
        <p:sp>
          <p:nvSpPr>
            <p:cNvPr id="9" name="Text 20">
              <a:extLst>
                <a:ext uri="{FF2B5EF4-FFF2-40B4-BE49-F238E27FC236}">
                  <a16:creationId xmlns:a16="http://schemas.microsoft.com/office/drawing/2014/main" id="{38BD087B-8F1C-66A6-0DD5-29E8AA629225}"/>
                </a:ext>
              </a:extLst>
            </p:cNvPr>
            <p:cNvSpPr/>
            <p:nvPr/>
          </p:nvSpPr>
          <p:spPr>
            <a:xfrm>
              <a:off x="878369" y="1851987"/>
              <a:ext cx="3555164" cy="10046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24350A"/>
                  </a:solidFill>
                </a:rPr>
                <a:t>Increase patient acquisition initiatives to improve admissions and achieve revenue targets.</a:t>
              </a:r>
            </a:p>
          </p:txBody>
        </p:sp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FB37C446-904A-6101-F61F-E0F8469F019A}"/>
                </a:ext>
              </a:extLst>
            </p:cNvPr>
            <p:cNvSpPr/>
            <p:nvPr/>
          </p:nvSpPr>
          <p:spPr>
            <a:xfrm>
              <a:off x="287383" y="3115211"/>
              <a:ext cx="4114800" cy="15143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0">
              <a:extLst>
                <a:ext uri="{FF2B5EF4-FFF2-40B4-BE49-F238E27FC236}">
                  <a16:creationId xmlns:a16="http://schemas.microsoft.com/office/drawing/2014/main" id="{8D7783D6-B8BE-98DA-3B5B-1759723ECA74}"/>
                </a:ext>
              </a:extLst>
            </p:cNvPr>
            <p:cNvSpPr/>
            <p:nvPr/>
          </p:nvSpPr>
          <p:spPr>
            <a:xfrm>
              <a:off x="342412" y="1426520"/>
              <a:ext cx="2313539" cy="387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537214"/>
                  </a:solidFill>
                </a:rPr>
                <a:t>Revenue Growth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C8E9124-DF42-9AF5-0443-DC4D12345777}"/>
                </a:ext>
              </a:extLst>
            </p:cNvPr>
            <p:cNvGrpSpPr/>
            <p:nvPr/>
          </p:nvGrpSpPr>
          <p:grpSpPr>
            <a:xfrm>
              <a:off x="287383" y="3646611"/>
              <a:ext cx="515982" cy="982979"/>
              <a:chOff x="274321" y="1896941"/>
              <a:chExt cx="515982" cy="982979"/>
            </a:xfrm>
          </p:grpSpPr>
          <p:sp>
            <p:nvSpPr>
              <p:cNvPr id="37" name="Shape 18">
                <a:extLst>
                  <a:ext uri="{FF2B5EF4-FFF2-40B4-BE49-F238E27FC236}">
                    <a16:creationId xmlns:a16="http://schemas.microsoft.com/office/drawing/2014/main" id="{323B5FDE-0474-E95C-EA0A-C09C402F3847}"/>
                  </a:ext>
                </a:extLst>
              </p:cNvPr>
              <p:cNvSpPr/>
              <p:nvPr/>
            </p:nvSpPr>
            <p:spPr>
              <a:xfrm>
                <a:off x="287383" y="1896941"/>
                <a:ext cx="502920" cy="982979"/>
              </a:xfrm>
              <a:prstGeom prst="rect">
                <a:avLst/>
              </a:prstGeom>
              <a:solidFill>
                <a:srgbClr val="537214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 19">
                <a:extLst>
                  <a:ext uri="{FF2B5EF4-FFF2-40B4-BE49-F238E27FC236}">
                    <a16:creationId xmlns:a16="http://schemas.microsoft.com/office/drawing/2014/main" id="{D4A4FAA3-673A-EF27-495A-9D98F76A0ACD}"/>
                  </a:ext>
                </a:extLst>
              </p:cNvPr>
              <p:cNvSpPr/>
              <p:nvPr/>
            </p:nvSpPr>
            <p:spPr>
              <a:xfrm>
                <a:off x="274321" y="2132510"/>
                <a:ext cx="50292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0801B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02</a:t>
                </a:r>
                <a:endParaRPr lang="en-US" sz="1400" dirty="0">
                  <a:solidFill>
                    <a:srgbClr val="F0801B"/>
                  </a:solidFill>
                </a:endParaRPr>
              </a:p>
            </p:txBody>
          </p:sp>
        </p:grpSp>
        <p:sp>
          <p:nvSpPr>
            <p:cNvPr id="39" name="Text 20">
              <a:extLst>
                <a:ext uri="{FF2B5EF4-FFF2-40B4-BE49-F238E27FC236}">
                  <a16:creationId xmlns:a16="http://schemas.microsoft.com/office/drawing/2014/main" id="{9A7479EE-D323-700F-C041-496B7BA4423E}"/>
                </a:ext>
              </a:extLst>
            </p:cNvPr>
            <p:cNvSpPr/>
            <p:nvPr/>
          </p:nvSpPr>
          <p:spPr>
            <a:xfrm>
              <a:off x="866794" y="3608463"/>
              <a:ext cx="3520440" cy="10046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24350A"/>
                  </a:solidFill>
                </a:rPr>
                <a:t>Reduce unnecessary patient stays through improved discharge planning and treatment coordination.</a:t>
              </a:r>
            </a:p>
          </p:txBody>
        </p:sp>
        <p:sp>
          <p:nvSpPr>
            <p:cNvPr id="40" name="Text 20">
              <a:extLst>
                <a:ext uri="{FF2B5EF4-FFF2-40B4-BE49-F238E27FC236}">
                  <a16:creationId xmlns:a16="http://schemas.microsoft.com/office/drawing/2014/main" id="{8C41163D-8148-8D94-CC17-B4FB88F698B4}"/>
                </a:ext>
              </a:extLst>
            </p:cNvPr>
            <p:cNvSpPr/>
            <p:nvPr/>
          </p:nvSpPr>
          <p:spPr>
            <a:xfrm>
              <a:off x="341595" y="3174664"/>
              <a:ext cx="2915423" cy="387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537214"/>
                  </a:solidFill>
                </a:rPr>
                <a:t>Operational Efficiency</a:t>
              </a:r>
            </a:p>
          </p:txBody>
        </p:sp>
        <p:sp>
          <p:nvSpPr>
            <p:cNvPr id="41" name="Shape 17">
              <a:extLst>
                <a:ext uri="{FF2B5EF4-FFF2-40B4-BE49-F238E27FC236}">
                  <a16:creationId xmlns:a16="http://schemas.microsoft.com/office/drawing/2014/main" id="{EDA1B3D7-C182-8411-410C-B6D35EC9DCE2}"/>
                </a:ext>
              </a:extLst>
            </p:cNvPr>
            <p:cNvSpPr/>
            <p:nvPr/>
          </p:nvSpPr>
          <p:spPr>
            <a:xfrm>
              <a:off x="4789058" y="1350072"/>
              <a:ext cx="4146151" cy="152688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79D2D4D-41D7-7F93-93DE-535DBAF8437C}"/>
                </a:ext>
              </a:extLst>
            </p:cNvPr>
            <p:cNvGrpSpPr/>
            <p:nvPr/>
          </p:nvGrpSpPr>
          <p:grpSpPr>
            <a:xfrm>
              <a:off x="4775997" y="1896941"/>
              <a:ext cx="515982" cy="982979"/>
              <a:chOff x="274321" y="1896941"/>
              <a:chExt cx="515982" cy="982979"/>
            </a:xfrm>
          </p:grpSpPr>
          <p:sp>
            <p:nvSpPr>
              <p:cNvPr id="43" name="Shape 18">
                <a:extLst>
                  <a:ext uri="{FF2B5EF4-FFF2-40B4-BE49-F238E27FC236}">
                    <a16:creationId xmlns:a16="http://schemas.microsoft.com/office/drawing/2014/main" id="{E41F02A0-7782-3A1D-A916-001BC83DD21B}"/>
                  </a:ext>
                </a:extLst>
              </p:cNvPr>
              <p:cNvSpPr/>
              <p:nvPr/>
            </p:nvSpPr>
            <p:spPr>
              <a:xfrm>
                <a:off x="287383" y="1896941"/>
                <a:ext cx="502920" cy="982979"/>
              </a:xfrm>
              <a:prstGeom prst="rect">
                <a:avLst/>
              </a:prstGeom>
              <a:solidFill>
                <a:srgbClr val="537214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 19">
                <a:extLst>
                  <a:ext uri="{FF2B5EF4-FFF2-40B4-BE49-F238E27FC236}">
                    <a16:creationId xmlns:a16="http://schemas.microsoft.com/office/drawing/2014/main" id="{9451DF29-B60C-E5CB-5439-9BC0C562899A}"/>
                  </a:ext>
                </a:extLst>
              </p:cNvPr>
              <p:cNvSpPr/>
              <p:nvPr/>
            </p:nvSpPr>
            <p:spPr>
              <a:xfrm>
                <a:off x="274321" y="2132510"/>
                <a:ext cx="50292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0801B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03</a:t>
                </a:r>
                <a:endParaRPr lang="en-US" sz="1400" dirty="0">
                  <a:solidFill>
                    <a:srgbClr val="F0801B"/>
                  </a:solidFill>
                </a:endParaRPr>
              </a:p>
            </p:txBody>
          </p:sp>
        </p:grpSp>
        <p:sp>
          <p:nvSpPr>
            <p:cNvPr id="45" name="Text 20">
              <a:extLst>
                <a:ext uri="{FF2B5EF4-FFF2-40B4-BE49-F238E27FC236}">
                  <a16:creationId xmlns:a16="http://schemas.microsoft.com/office/drawing/2014/main" id="{69767F89-F208-3DB3-7B5F-F7DCB3AF793A}"/>
                </a:ext>
              </a:extLst>
            </p:cNvPr>
            <p:cNvSpPr/>
            <p:nvPr/>
          </p:nvSpPr>
          <p:spPr>
            <a:xfrm>
              <a:off x="5380045" y="1851987"/>
              <a:ext cx="3555164" cy="10046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/>
                <a:t>Implement patient satisfaction improvement initiatives to achieve the target satisfaction score of 7.</a:t>
              </a:r>
            </a:p>
          </p:txBody>
        </p:sp>
        <p:sp>
          <p:nvSpPr>
            <p:cNvPr id="46" name="Text 20">
              <a:extLst>
                <a:ext uri="{FF2B5EF4-FFF2-40B4-BE49-F238E27FC236}">
                  <a16:creationId xmlns:a16="http://schemas.microsoft.com/office/drawing/2014/main" id="{F40AB96A-FCF4-EF00-6D81-845C1D623CCF}"/>
                </a:ext>
              </a:extLst>
            </p:cNvPr>
            <p:cNvSpPr/>
            <p:nvPr/>
          </p:nvSpPr>
          <p:spPr>
            <a:xfrm>
              <a:off x="4844847" y="1382161"/>
              <a:ext cx="2196034" cy="425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537214"/>
                  </a:solidFill>
                </a:rPr>
                <a:t>Patient Experience</a:t>
              </a:r>
            </a:p>
          </p:txBody>
        </p:sp>
        <p:sp>
          <p:nvSpPr>
            <p:cNvPr id="47" name="Shape 17">
              <a:extLst>
                <a:ext uri="{FF2B5EF4-FFF2-40B4-BE49-F238E27FC236}">
                  <a16:creationId xmlns:a16="http://schemas.microsoft.com/office/drawing/2014/main" id="{EB0AACD2-A92E-72D2-8BCA-4FBE3792838D}"/>
                </a:ext>
              </a:extLst>
            </p:cNvPr>
            <p:cNvSpPr/>
            <p:nvPr/>
          </p:nvSpPr>
          <p:spPr>
            <a:xfrm>
              <a:off x="4789058" y="3105256"/>
              <a:ext cx="4146151" cy="152688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E9548D84-AFF2-A57E-16B0-2F20AB600D64}"/>
                </a:ext>
              </a:extLst>
            </p:cNvPr>
            <p:cNvGrpSpPr/>
            <p:nvPr/>
          </p:nvGrpSpPr>
          <p:grpSpPr>
            <a:xfrm>
              <a:off x="4775997" y="3652125"/>
              <a:ext cx="515982" cy="982979"/>
              <a:chOff x="274321" y="1896941"/>
              <a:chExt cx="515982" cy="982979"/>
            </a:xfrm>
          </p:grpSpPr>
          <p:sp>
            <p:nvSpPr>
              <p:cNvPr id="49" name="Shape 18">
                <a:extLst>
                  <a:ext uri="{FF2B5EF4-FFF2-40B4-BE49-F238E27FC236}">
                    <a16:creationId xmlns:a16="http://schemas.microsoft.com/office/drawing/2014/main" id="{BC1DD565-85CC-E770-17F4-EC2567443272}"/>
                  </a:ext>
                </a:extLst>
              </p:cNvPr>
              <p:cNvSpPr/>
              <p:nvPr/>
            </p:nvSpPr>
            <p:spPr>
              <a:xfrm>
                <a:off x="287383" y="1896941"/>
                <a:ext cx="502920" cy="982979"/>
              </a:xfrm>
              <a:prstGeom prst="rect">
                <a:avLst/>
              </a:prstGeom>
              <a:solidFill>
                <a:srgbClr val="537214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Text 19">
                <a:extLst>
                  <a:ext uri="{FF2B5EF4-FFF2-40B4-BE49-F238E27FC236}">
                    <a16:creationId xmlns:a16="http://schemas.microsoft.com/office/drawing/2014/main" id="{16BC2E65-CCC0-94A6-5240-963B8D16F16A}"/>
                  </a:ext>
                </a:extLst>
              </p:cNvPr>
              <p:cNvSpPr/>
              <p:nvPr/>
            </p:nvSpPr>
            <p:spPr>
              <a:xfrm>
                <a:off x="274321" y="2132510"/>
                <a:ext cx="50292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0801B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04</a:t>
                </a:r>
                <a:endParaRPr lang="en-US" sz="1400" dirty="0">
                  <a:solidFill>
                    <a:srgbClr val="F0801B"/>
                  </a:solidFill>
                </a:endParaRPr>
              </a:p>
            </p:txBody>
          </p:sp>
        </p:grpSp>
        <p:sp>
          <p:nvSpPr>
            <p:cNvPr id="51" name="Text 20">
              <a:extLst>
                <a:ext uri="{FF2B5EF4-FFF2-40B4-BE49-F238E27FC236}">
                  <a16:creationId xmlns:a16="http://schemas.microsoft.com/office/drawing/2014/main" id="{9D625470-5771-BC76-B837-EAB3FA4A8E79}"/>
                </a:ext>
              </a:extLst>
            </p:cNvPr>
            <p:cNvSpPr/>
            <p:nvPr/>
          </p:nvSpPr>
          <p:spPr>
            <a:xfrm>
              <a:off x="5380045" y="3607171"/>
              <a:ext cx="3555164" cy="10046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850" dirty="0">
                  <a:solidFill>
                    <a:srgbClr val="24350A"/>
                  </a:solidFill>
                </a:rPr>
                <a:t>Establish regular KPI reviews to track progress against management targets.</a:t>
              </a:r>
            </a:p>
          </p:txBody>
        </p:sp>
        <p:sp>
          <p:nvSpPr>
            <p:cNvPr id="52" name="Text 20">
              <a:extLst>
                <a:ext uri="{FF2B5EF4-FFF2-40B4-BE49-F238E27FC236}">
                  <a16:creationId xmlns:a16="http://schemas.microsoft.com/office/drawing/2014/main" id="{631FB4E8-712F-99E1-5265-CD814820C1D4}"/>
                </a:ext>
              </a:extLst>
            </p:cNvPr>
            <p:cNvSpPr/>
            <p:nvPr/>
          </p:nvSpPr>
          <p:spPr>
            <a:xfrm>
              <a:off x="4859381" y="3174663"/>
              <a:ext cx="2730139" cy="4337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537214"/>
                  </a:solidFill>
                </a:rPr>
                <a:t>Performance Monitoring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D88A6-CB5E-10F0-AE31-EB257D19D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0B199BE-6EFB-5CB9-ED9D-09F8D0DD024D}"/>
              </a:ext>
            </a:extLst>
          </p:cNvPr>
          <p:cNvSpPr/>
          <p:nvPr/>
        </p:nvSpPr>
        <p:spPr>
          <a:xfrm>
            <a:off x="1443623" y="9772"/>
            <a:ext cx="62567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3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(Continued)</a:t>
            </a:r>
            <a:endParaRPr lang="en-US" sz="3000" dirty="0">
              <a:solidFill>
                <a:srgbClr val="24350A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0796629-B3E2-4AA0-D742-79BDF60BE70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80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0F6250AF-34DD-816B-97D6-2CC600D90DAE}"/>
              </a:ext>
            </a:extLst>
          </p:cNvPr>
          <p:cNvSpPr/>
          <p:nvPr/>
        </p:nvSpPr>
        <p:spPr>
          <a:xfrm>
            <a:off x="300445" y="650191"/>
            <a:ext cx="755033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Strategic Recommendations (Further Analysis)</a:t>
            </a:r>
            <a:endParaRPr lang="en-US" dirty="0">
              <a:solidFill>
                <a:srgbClr val="24350A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5A3695A-F2A3-B6BB-8764-4CFAE14E5FDD}"/>
              </a:ext>
            </a:extLst>
          </p:cNvPr>
          <p:cNvGrpSpPr/>
          <p:nvPr/>
        </p:nvGrpSpPr>
        <p:grpSpPr>
          <a:xfrm>
            <a:off x="0" y="1350072"/>
            <a:ext cx="9144000" cy="3793428"/>
            <a:chOff x="0" y="1350072"/>
            <a:chExt cx="9144000" cy="3793428"/>
          </a:xfrm>
        </p:grpSpPr>
        <p:sp>
          <p:nvSpPr>
            <p:cNvPr id="34" name="Shape 28">
              <a:extLst>
                <a:ext uri="{FF2B5EF4-FFF2-40B4-BE49-F238E27FC236}">
                  <a16:creationId xmlns:a16="http://schemas.microsoft.com/office/drawing/2014/main" id="{18A0CBAC-6DED-ED85-B7B9-336E523F6A4F}"/>
                </a:ext>
              </a:extLst>
            </p:cNvPr>
            <p:cNvSpPr/>
            <p:nvPr/>
          </p:nvSpPr>
          <p:spPr>
            <a:xfrm>
              <a:off x="0" y="4776861"/>
              <a:ext cx="9144000" cy="366639"/>
            </a:xfrm>
            <a:prstGeom prst="rect">
              <a:avLst/>
            </a:prstGeom>
            <a:solidFill>
              <a:srgbClr val="537214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Shape 17">
              <a:extLst>
                <a:ext uri="{FF2B5EF4-FFF2-40B4-BE49-F238E27FC236}">
                  <a16:creationId xmlns:a16="http://schemas.microsoft.com/office/drawing/2014/main" id="{94572F4B-DF06-8F68-AC31-3D23774541C1}"/>
                </a:ext>
              </a:extLst>
            </p:cNvPr>
            <p:cNvSpPr/>
            <p:nvPr/>
          </p:nvSpPr>
          <p:spPr>
            <a:xfrm>
              <a:off x="287382" y="1350072"/>
              <a:ext cx="4146151" cy="152688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8F75D90-4BBF-EC28-6E4B-A8B54F7B2DD6}"/>
                </a:ext>
              </a:extLst>
            </p:cNvPr>
            <p:cNvGrpSpPr/>
            <p:nvPr/>
          </p:nvGrpSpPr>
          <p:grpSpPr>
            <a:xfrm>
              <a:off x="274321" y="1896941"/>
              <a:ext cx="515982" cy="982979"/>
              <a:chOff x="274321" y="1896941"/>
              <a:chExt cx="515982" cy="982979"/>
            </a:xfrm>
          </p:grpSpPr>
          <p:sp>
            <p:nvSpPr>
              <p:cNvPr id="7" name="Shape 18">
                <a:extLst>
                  <a:ext uri="{FF2B5EF4-FFF2-40B4-BE49-F238E27FC236}">
                    <a16:creationId xmlns:a16="http://schemas.microsoft.com/office/drawing/2014/main" id="{C72D2D85-30D0-AD0F-BA45-A80A36706E58}"/>
                  </a:ext>
                </a:extLst>
              </p:cNvPr>
              <p:cNvSpPr/>
              <p:nvPr/>
            </p:nvSpPr>
            <p:spPr>
              <a:xfrm>
                <a:off x="287383" y="1896941"/>
                <a:ext cx="502920" cy="982979"/>
              </a:xfrm>
              <a:prstGeom prst="rect">
                <a:avLst/>
              </a:prstGeom>
              <a:solidFill>
                <a:srgbClr val="537214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 19">
                <a:extLst>
                  <a:ext uri="{FF2B5EF4-FFF2-40B4-BE49-F238E27FC236}">
                    <a16:creationId xmlns:a16="http://schemas.microsoft.com/office/drawing/2014/main" id="{87E3DBE9-E8ED-6D02-62EA-F57DC05EB207}"/>
                  </a:ext>
                </a:extLst>
              </p:cNvPr>
              <p:cNvSpPr/>
              <p:nvPr/>
            </p:nvSpPr>
            <p:spPr>
              <a:xfrm>
                <a:off x="274321" y="2132510"/>
                <a:ext cx="50292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0801B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01</a:t>
                </a:r>
                <a:endParaRPr lang="en-US" sz="1400" dirty="0">
                  <a:solidFill>
                    <a:srgbClr val="F0801B"/>
                  </a:solidFill>
                </a:endParaRPr>
              </a:p>
            </p:txBody>
          </p:sp>
        </p:grpSp>
        <p:sp>
          <p:nvSpPr>
            <p:cNvPr id="9" name="Text 20">
              <a:extLst>
                <a:ext uri="{FF2B5EF4-FFF2-40B4-BE49-F238E27FC236}">
                  <a16:creationId xmlns:a16="http://schemas.microsoft.com/office/drawing/2014/main" id="{66E6C68A-E509-137B-07C9-6BFD35D11565}"/>
                </a:ext>
              </a:extLst>
            </p:cNvPr>
            <p:cNvSpPr/>
            <p:nvPr/>
          </p:nvSpPr>
          <p:spPr>
            <a:xfrm>
              <a:off x="878369" y="1851987"/>
              <a:ext cx="3555164" cy="10046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rgbClr val="24350A"/>
                  </a:solidFill>
                </a:rPr>
                <a:t>Evaluate Sheffield and Cardiff's operational practices and apply successful strategies across other locations.</a:t>
              </a:r>
            </a:p>
          </p:txBody>
        </p:sp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592F616F-25A8-57EF-337A-987209AD637E}"/>
                </a:ext>
              </a:extLst>
            </p:cNvPr>
            <p:cNvSpPr/>
            <p:nvPr/>
          </p:nvSpPr>
          <p:spPr>
            <a:xfrm>
              <a:off x="287383" y="3115211"/>
              <a:ext cx="4114800" cy="15143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0">
              <a:extLst>
                <a:ext uri="{FF2B5EF4-FFF2-40B4-BE49-F238E27FC236}">
                  <a16:creationId xmlns:a16="http://schemas.microsoft.com/office/drawing/2014/main" id="{926E4800-0DF6-7CFC-06AC-D865E92CCECF}"/>
                </a:ext>
              </a:extLst>
            </p:cNvPr>
            <p:cNvSpPr/>
            <p:nvPr/>
          </p:nvSpPr>
          <p:spPr>
            <a:xfrm>
              <a:off x="342412" y="1417160"/>
              <a:ext cx="4059771" cy="397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950" b="1" dirty="0">
                  <a:solidFill>
                    <a:srgbClr val="537214"/>
                  </a:solidFill>
                </a:rPr>
                <a:t>Replicate High-Performing City Practice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2E60812-BDA5-F274-A8F4-0E4DA088078A}"/>
                </a:ext>
              </a:extLst>
            </p:cNvPr>
            <p:cNvGrpSpPr/>
            <p:nvPr/>
          </p:nvGrpSpPr>
          <p:grpSpPr>
            <a:xfrm>
              <a:off x="287383" y="3646611"/>
              <a:ext cx="515982" cy="982979"/>
              <a:chOff x="274321" y="1896941"/>
              <a:chExt cx="515982" cy="982979"/>
            </a:xfrm>
          </p:grpSpPr>
          <p:sp>
            <p:nvSpPr>
              <p:cNvPr id="37" name="Shape 18">
                <a:extLst>
                  <a:ext uri="{FF2B5EF4-FFF2-40B4-BE49-F238E27FC236}">
                    <a16:creationId xmlns:a16="http://schemas.microsoft.com/office/drawing/2014/main" id="{7EF9EF00-5D9D-B18C-BEB1-BB1D0A4C5A3E}"/>
                  </a:ext>
                </a:extLst>
              </p:cNvPr>
              <p:cNvSpPr/>
              <p:nvPr/>
            </p:nvSpPr>
            <p:spPr>
              <a:xfrm>
                <a:off x="287383" y="1896941"/>
                <a:ext cx="502920" cy="982979"/>
              </a:xfrm>
              <a:prstGeom prst="rect">
                <a:avLst/>
              </a:prstGeom>
              <a:solidFill>
                <a:srgbClr val="537214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 19">
                <a:extLst>
                  <a:ext uri="{FF2B5EF4-FFF2-40B4-BE49-F238E27FC236}">
                    <a16:creationId xmlns:a16="http://schemas.microsoft.com/office/drawing/2014/main" id="{64BF5A28-DB5F-3CE3-DC61-D336B278908E}"/>
                  </a:ext>
                </a:extLst>
              </p:cNvPr>
              <p:cNvSpPr/>
              <p:nvPr/>
            </p:nvSpPr>
            <p:spPr>
              <a:xfrm>
                <a:off x="274321" y="2132510"/>
                <a:ext cx="50292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0801B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03</a:t>
                </a:r>
                <a:endParaRPr lang="en-US" sz="1400" dirty="0">
                  <a:solidFill>
                    <a:srgbClr val="F0801B"/>
                  </a:solidFill>
                </a:endParaRPr>
              </a:p>
            </p:txBody>
          </p:sp>
        </p:grpSp>
        <p:sp>
          <p:nvSpPr>
            <p:cNvPr id="39" name="Text 20">
              <a:extLst>
                <a:ext uri="{FF2B5EF4-FFF2-40B4-BE49-F238E27FC236}">
                  <a16:creationId xmlns:a16="http://schemas.microsoft.com/office/drawing/2014/main" id="{171D9AD1-6BAD-2DB7-2B18-2E2275EB5EE8}"/>
                </a:ext>
              </a:extLst>
            </p:cNvPr>
            <p:cNvSpPr/>
            <p:nvPr/>
          </p:nvSpPr>
          <p:spPr>
            <a:xfrm>
              <a:off x="866794" y="3608463"/>
              <a:ext cx="3520440" cy="10046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24350A"/>
                  </a:solidFill>
                </a:rPr>
                <a:t>Investigate factors contributing to longer stays and lower satisfaction among Private-payment patients.</a:t>
              </a:r>
            </a:p>
          </p:txBody>
        </p:sp>
        <p:sp>
          <p:nvSpPr>
            <p:cNvPr id="40" name="Text 20">
              <a:extLst>
                <a:ext uri="{FF2B5EF4-FFF2-40B4-BE49-F238E27FC236}">
                  <a16:creationId xmlns:a16="http://schemas.microsoft.com/office/drawing/2014/main" id="{0F3AA1D6-8A14-89C5-3EC1-FD24F92D0758}"/>
                </a:ext>
              </a:extLst>
            </p:cNvPr>
            <p:cNvSpPr/>
            <p:nvPr/>
          </p:nvSpPr>
          <p:spPr>
            <a:xfrm>
              <a:off x="341595" y="3141492"/>
              <a:ext cx="3834165" cy="420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537214"/>
                  </a:solidFill>
                </a:rPr>
                <a:t>Review Private Payment Processes</a:t>
              </a:r>
            </a:p>
          </p:txBody>
        </p:sp>
        <p:sp>
          <p:nvSpPr>
            <p:cNvPr id="41" name="Shape 17">
              <a:extLst>
                <a:ext uri="{FF2B5EF4-FFF2-40B4-BE49-F238E27FC236}">
                  <a16:creationId xmlns:a16="http://schemas.microsoft.com/office/drawing/2014/main" id="{41F02C8D-5996-D10B-C2B6-55557864D7C7}"/>
                </a:ext>
              </a:extLst>
            </p:cNvPr>
            <p:cNvSpPr/>
            <p:nvPr/>
          </p:nvSpPr>
          <p:spPr>
            <a:xfrm>
              <a:off x="4789058" y="1350072"/>
              <a:ext cx="4146151" cy="152688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74BF429-2E0C-9270-11C1-B68964E3EAB7}"/>
                </a:ext>
              </a:extLst>
            </p:cNvPr>
            <p:cNvGrpSpPr/>
            <p:nvPr/>
          </p:nvGrpSpPr>
          <p:grpSpPr>
            <a:xfrm>
              <a:off x="4775997" y="1896941"/>
              <a:ext cx="515982" cy="982979"/>
              <a:chOff x="274321" y="1896941"/>
              <a:chExt cx="515982" cy="982979"/>
            </a:xfrm>
          </p:grpSpPr>
          <p:sp>
            <p:nvSpPr>
              <p:cNvPr id="43" name="Shape 18">
                <a:extLst>
                  <a:ext uri="{FF2B5EF4-FFF2-40B4-BE49-F238E27FC236}">
                    <a16:creationId xmlns:a16="http://schemas.microsoft.com/office/drawing/2014/main" id="{028F9926-38D0-FBB3-25B3-9C5726CF69EB}"/>
                  </a:ext>
                </a:extLst>
              </p:cNvPr>
              <p:cNvSpPr/>
              <p:nvPr/>
            </p:nvSpPr>
            <p:spPr>
              <a:xfrm>
                <a:off x="287383" y="1896941"/>
                <a:ext cx="502920" cy="982979"/>
              </a:xfrm>
              <a:prstGeom prst="rect">
                <a:avLst/>
              </a:prstGeom>
              <a:solidFill>
                <a:srgbClr val="537214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 19">
                <a:extLst>
                  <a:ext uri="{FF2B5EF4-FFF2-40B4-BE49-F238E27FC236}">
                    <a16:creationId xmlns:a16="http://schemas.microsoft.com/office/drawing/2014/main" id="{FB746046-28E5-CEE9-3F51-8C9CBECDAEE7}"/>
                  </a:ext>
                </a:extLst>
              </p:cNvPr>
              <p:cNvSpPr/>
              <p:nvPr/>
            </p:nvSpPr>
            <p:spPr>
              <a:xfrm>
                <a:off x="274321" y="2132510"/>
                <a:ext cx="50292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0801B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02</a:t>
                </a:r>
                <a:endParaRPr lang="en-US" sz="1400" dirty="0">
                  <a:solidFill>
                    <a:srgbClr val="F0801B"/>
                  </a:solidFill>
                </a:endParaRPr>
              </a:p>
            </p:txBody>
          </p:sp>
        </p:grpSp>
        <p:sp>
          <p:nvSpPr>
            <p:cNvPr id="45" name="Text 20">
              <a:extLst>
                <a:ext uri="{FF2B5EF4-FFF2-40B4-BE49-F238E27FC236}">
                  <a16:creationId xmlns:a16="http://schemas.microsoft.com/office/drawing/2014/main" id="{A3D000AB-96DF-CDF1-0AA9-E4F553C41EF4}"/>
                </a:ext>
              </a:extLst>
            </p:cNvPr>
            <p:cNvSpPr/>
            <p:nvPr/>
          </p:nvSpPr>
          <p:spPr>
            <a:xfrm>
              <a:off x="5380045" y="1851987"/>
              <a:ext cx="3555164" cy="10046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/>
                <a:t>Increase preventive care and early intervention programs for older patients due to their higher exposure to critical conditions.</a:t>
              </a:r>
            </a:p>
          </p:txBody>
        </p:sp>
        <p:sp>
          <p:nvSpPr>
            <p:cNvPr id="46" name="Text 20">
              <a:extLst>
                <a:ext uri="{FF2B5EF4-FFF2-40B4-BE49-F238E27FC236}">
                  <a16:creationId xmlns:a16="http://schemas.microsoft.com/office/drawing/2014/main" id="{2B39CF1C-0FB5-D2F2-9A14-5DFF57999C2E}"/>
                </a:ext>
              </a:extLst>
            </p:cNvPr>
            <p:cNvSpPr/>
            <p:nvPr/>
          </p:nvSpPr>
          <p:spPr>
            <a:xfrm>
              <a:off x="4844846" y="1417160"/>
              <a:ext cx="3354273" cy="390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537214"/>
                  </a:solidFill>
                </a:rPr>
                <a:t>Strengthen Elder Patient Care</a:t>
              </a:r>
            </a:p>
          </p:txBody>
        </p:sp>
        <p:sp>
          <p:nvSpPr>
            <p:cNvPr id="47" name="Shape 17">
              <a:extLst>
                <a:ext uri="{FF2B5EF4-FFF2-40B4-BE49-F238E27FC236}">
                  <a16:creationId xmlns:a16="http://schemas.microsoft.com/office/drawing/2014/main" id="{673CAF4F-0D9F-385B-00C5-B6C027602726}"/>
                </a:ext>
              </a:extLst>
            </p:cNvPr>
            <p:cNvSpPr/>
            <p:nvPr/>
          </p:nvSpPr>
          <p:spPr>
            <a:xfrm>
              <a:off x="4789058" y="3105256"/>
              <a:ext cx="4146151" cy="152688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C81D3C7-F3B1-A050-E9B4-6BF81D3C305F}"/>
                </a:ext>
              </a:extLst>
            </p:cNvPr>
            <p:cNvGrpSpPr/>
            <p:nvPr/>
          </p:nvGrpSpPr>
          <p:grpSpPr>
            <a:xfrm>
              <a:off x="4775997" y="3652125"/>
              <a:ext cx="515982" cy="982979"/>
              <a:chOff x="274321" y="1896941"/>
              <a:chExt cx="515982" cy="982979"/>
            </a:xfrm>
          </p:grpSpPr>
          <p:sp>
            <p:nvSpPr>
              <p:cNvPr id="49" name="Shape 18">
                <a:extLst>
                  <a:ext uri="{FF2B5EF4-FFF2-40B4-BE49-F238E27FC236}">
                    <a16:creationId xmlns:a16="http://schemas.microsoft.com/office/drawing/2014/main" id="{B59F8718-7D58-094E-D5CB-C23C4BB7B193}"/>
                  </a:ext>
                </a:extLst>
              </p:cNvPr>
              <p:cNvSpPr/>
              <p:nvPr/>
            </p:nvSpPr>
            <p:spPr>
              <a:xfrm>
                <a:off x="287383" y="1896941"/>
                <a:ext cx="502920" cy="982979"/>
              </a:xfrm>
              <a:prstGeom prst="rect">
                <a:avLst/>
              </a:prstGeom>
              <a:solidFill>
                <a:srgbClr val="537214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Text 19">
                <a:extLst>
                  <a:ext uri="{FF2B5EF4-FFF2-40B4-BE49-F238E27FC236}">
                    <a16:creationId xmlns:a16="http://schemas.microsoft.com/office/drawing/2014/main" id="{0BD50BDD-2488-2A1E-8ED6-BC0C1061FA18}"/>
                  </a:ext>
                </a:extLst>
              </p:cNvPr>
              <p:cNvSpPr/>
              <p:nvPr/>
            </p:nvSpPr>
            <p:spPr>
              <a:xfrm>
                <a:off x="274321" y="2132510"/>
                <a:ext cx="50292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0801B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04</a:t>
                </a:r>
                <a:endParaRPr lang="en-US" sz="1400" dirty="0">
                  <a:solidFill>
                    <a:srgbClr val="F0801B"/>
                  </a:solidFill>
                </a:endParaRPr>
              </a:p>
            </p:txBody>
          </p:sp>
        </p:grpSp>
        <p:sp>
          <p:nvSpPr>
            <p:cNvPr id="51" name="Text 20">
              <a:extLst>
                <a:ext uri="{FF2B5EF4-FFF2-40B4-BE49-F238E27FC236}">
                  <a16:creationId xmlns:a16="http://schemas.microsoft.com/office/drawing/2014/main" id="{5C5CC71F-7525-4883-0134-38EA15E22042}"/>
                </a:ext>
              </a:extLst>
            </p:cNvPr>
            <p:cNvSpPr/>
            <p:nvPr/>
          </p:nvSpPr>
          <p:spPr>
            <a:xfrm>
              <a:off x="5366982" y="3607171"/>
              <a:ext cx="3555164" cy="10046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dirty="0">
                  <a:solidFill>
                    <a:srgbClr val="24350A"/>
                  </a:solidFill>
                </a:rPr>
                <a:t>Leverage high-performing physicians' approaches to improve patient satisfaction and operational efficiency across the organization.</a:t>
              </a:r>
            </a:p>
          </p:txBody>
        </p:sp>
        <p:sp>
          <p:nvSpPr>
            <p:cNvPr id="52" name="Text 20">
              <a:extLst>
                <a:ext uri="{FF2B5EF4-FFF2-40B4-BE49-F238E27FC236}">
                  <a16:creationId xmlns:a16="http://schemas.microsoft.com/office/drawing/2014/main" id="{6CCAA070-3E66-F4F6-7EE0-BA7462058098}"/>
                </a:ext>
              </a:extLst>
            </p:cNvPr>
            <p:cNvSpPr/>
            <p:nvPr/>
          </p:nvSpPr>
          <p:spPr>
            <a:xfrm>
              <a:off x="4859381" y="3174664"/>
              <a:ext cx="3156859" cy="4121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537214"/>
                  </a:solidFill>
                </a:rPr>
                <a:t>Share Clinical Best Practices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1393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FE098-212D-82B6-02C9-6CF990C46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BD8355-C7C3-C937-E3F8-79561660580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80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B2FEFC-38D6-C781-CAC6-88CB83C0EB58}"/>
              </a:ext>
            </a:extLst>
          </p:cNvPr>
          <p:cNvSpPr/>
          <p:nvPr/>
        </p:nvSpPr>
        <p:spPr>
          <a:xfrm>
            <a:off x="1731552" y="1737360"/>
            <a:ext cx="539267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 algn="ctr"/>
            <a:r>
              <a:rPr lang="en-US" sz="6600" b="1" dirty="0">
                <a:solidFill>
                  <a:srgbClr val="53721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6600" dirty="0">
              <a:solidFill>
                <a:srgbClr val="5372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475F93-DDAA-28C7-BFE2-FB8A75AB1EA0}"/>
              </a:ext>
            </a:extLst>
          </p:cNvPr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24B024-81A6-AF4C-A498-DF191ADBCF96}"/>
              </a:ext>
            </a:extLst>
          </p:cNvPr>
          <p:cNvSpPr/>
          <p:nvPr/>
        </p:nvSpPr>
        <p:spPr>
          <a:xfrm>
            <a:off x="3048943" y="2792626"/>
            <a:ext cx="3046113" cy="48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algn="ctr"/>
            <a:r>
              <a:rPr lang="en-US" sz="2000" i="1" dirty="0">
                <a:solidFill>
                  <a:srgbClr val="5372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483010-A09A-76AB-4083-2501FB65485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rcRect l="31929" t="21634" r="33363" b="24017"/>
          <a:stretch>
            <a:fillRect/>
          </a:stretch>
        </p:blipFill>
        <p:spPr>
          <a:xfrm>
            <a:off x="8221362" y="4179427"/>
            <a:ext cx="852902" cy="890346"/>
          </a:xfrm>
          <a:prstGeom prst="rect">
            <a:avLst/>
          </a:prstGeom>
          <a:effectLst>
            <a:reflection endPos="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72962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2754</TotalTime>
  <Words>334</Words>
  <Application>Microsoft Office PowerPoint</Application>
  <PresentationFormat>On-screen Show (16:9)</PresentationFormat>
  <Paragraphs>64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(Body)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Kantian Deontology &amp; Academic Integrity</dc:title>
  <dc:subject>PptxGenJS Presentation</dc:subject>
  <dc:creator>PptxGenJS</dc:creator>
  <cp:lastModifiedBy>Chukwuemeka Onyekaodiri</cp:lastModifiedBy>
  <cp:revision>39</cp:revision>
  <dcterms:created xsi:type="dcterms:W3CDTF">2026-03-07T14:52:09Z</dcterms:created>
  <dcterms:modified xsi:type="dcterms:W3CDTF">2026-06-19T17:27:29Z</dcterms:modified>
</cp:coreProperties>
</file>